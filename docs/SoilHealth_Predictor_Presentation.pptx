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bubble3D val="0"/>
            <c:spPr>
              <a:solidFill>
                <a:srgbClr val="D4A017"/>
              </a:solidFill>
              <a:effectLst/>
            </c:spPr>
          </c:dPt>
          <c:dPt>
            <c:idx val="3"/>
            <c:bubble3D val="0"/>
            <c:spPr>
              <a:solidFill>
                <a:srgbClr val="F4A26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High Fertility
22.7%</c:v>
                </c:pt>
                <c:pt idx="1">
                  <c:v>Medium Fertility
31.8%</c:v>
                </c:pt>
                <c:pt idx="2">
                  <c:v>Low Fertility
27.3%</c:v>
                </c:pt>
                <c:pt idx="3">
                  <c:v>Poor Fertility
18.2%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22.7</c:v>
                </c:pt>
                <c:pt idx="1">
                  <c:v>31.8</c:v>
                </c:pt>
                <c:pt idx="2">
                  <c:v>27.3</c:v>
                </c:pt>
                <c:pt idx="3">
                  <c:v>18.2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4E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Accuracy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KNN (k=5)</c:v>
                  </c:pt>
                  <c:pt idx="2">
                    <c:v>Decision Tree</c:v>
                  </c:pt>
                  <c:pt idx="3">
                    <c:v>Naive Bayes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94.1</c:v>
                </c:pt>
                <c:pt idx="1">
                  <c:v>90.2</c:v>
                </c:pt>
                <c:pt idx="2">
                  <c:v>88.3</c:v>
                </c:pt>
                <c:pt idx="3">
                  <c:v>81.7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 Mean (%)</c:v>
                </c:pt>
              </c:strCache>
            </c:strRef>
          </c:tx>
          <c:spPr>
            <a:solidFill>
              <a:srgbClr val="B7E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KNN (k=5)</c:v>
                  </c:pt>
                  <c:pt idx="2">
                    <c:v>Decision Tree</c:v>
                  </c:pt>
                  <c:pt idx="3">
                    <c:v>Naive Bayes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93.5</c:v>
                </c:pt>
                <c:pt idx="1">
                  <c:v>89.8</c:v>
                </c:pt>
                <c:pt idx="2">
                  <c:v>87.6</c:v>
                </c:pt>
                <c:pt idx="3">
                  <c:v>81.2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Random Forest Feature Importances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 (%)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EC (4.8%)</c:v>
                  </c:pt>
                  <c:pt idx="1">
                    <c:v>Temperature (8.9%)</c:v>
                  </c:pt>
                  <c:pt idx="2">
                    <c:v>Moisture (12.3%)</c:v>
                  </c:pt>
                  <c:pt idx="3">
                    <c:v>Potassium (14.7%)</c:v>
                  </c:pt>
                  <c:pt idx="4">
                    <c:v>Phosphorus (16.4%)</c:v>
                  </c:pt>
                  <c:pt idx="5">
                    <c:v>Nitrogen (19.8%)</c:v>
                  </c:pt>
                  <c:pt idx="6">
                    <c:v>pH (23.1%)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4.8</c:v>
                </c:pt>
                <c:pt idx="1">
                  <c:v>8.9</c:v>
                </c:pt>
                <c:pt idx="2">
                  <c:v>12.3</c:v>
                </c:pt>
                <c:pt idx="3">
                  <c:v>14.7</c:v>
                </c:pt>
                <c:pt idx="4">
                  <c:v>16.4</c:v>
                </c:pt>
                <c:pt idx="5">
                  <c:v>19.8</c:v>
                </c:pt>
                <c:pt idx="6">
                  <c:v>23.1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ellipse">
            <a:avLst/>
          </a:prstGeom>
          <a:solidFill>
            <a:srgbClr val="52B788">
              <a:alpha val="30000"/>
            </a:srgbClr>
          </a:solidFill>
          <a:ln w="254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822960"/>
            <a:ext cx="1645920" cy="1645920"/>
          </a:xfrm>
          <a:prstGeom prst="ellipse">
            <a:avLst/>
          </a:prstGeom>
          <a:solidFill>
            <a:srgbClr val="B7E4C7">
              <a:alpha val="40000"/>
            </a:srgbClr>
          </a:solidFill>
          <a:ln w="12700">
            <a:solidFill>
              <a:srgbClr val="B7E4C7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2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56692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AI &amp; ML  |  Data Science — 21CSS303T  |  April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SoilHealth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Soil Fertility Classification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3200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478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Ramya Sri U</a:t>
            </a:r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RA2311026050042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858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Harsitha G P</a:t>
            </a:r>
            <a:pPr indent="0" marL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RA2311026050197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Dr. Sasikala, Asst. Professor, Dept. of AI &amp; 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soil fertility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6868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9418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 samples, 7 parameters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7452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031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19476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331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EDA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87452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87452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031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9476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331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ML classifiers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8036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089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29535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Accuracy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337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with Random Forest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8036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089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29535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337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&amp; Nitrogen dominate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88620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88620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1148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" y="3959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4343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recommendations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88620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886200"/>
            <a:ext cx="50292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1148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40680" y="3959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3434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200400" cy="8686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7782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₹500–₹2,000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soil test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200400" cy="8686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836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7–14 Days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turnaround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3200400" cy="8686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8950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loss from wrong fertilization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3200400" cy="8686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953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4315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in India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804672"/>
            <a:ext cx="4937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804672"/>
            <a:ext cx="54864" cy="4023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914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1417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contributes ~18% of India's GDP and supports 60%+ of the rural population.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23360" y="1929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Lab-based soil testing is expensive and slow — unaffordable for smallholder farmers.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23360" y="24414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Over-application of fertilizers degrades soil quality and increases farming costs.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23360" y="2953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Under-nourishment of crops reduces yields significantly.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02336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Uninformed crop selection worsens outcomes across seasons.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23360" y="3977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critical need for fast, affordable, data-driven soil fertility assessment.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04672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353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04672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353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804672"/>
            <a:ext cx="192024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8503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ICAR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3533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901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Features (7 Parameters)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58568"/>
          <a:ext cx="4206240" cy="260604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 (N)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mg/kg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nitrogen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Phosphorus (P)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mg/kg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phosphorus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 (K)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mg/kg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potassium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acidity/alkalinity (3.5–9.5)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Volumetric moisture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soil 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dS/m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conductivity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846320" y="1901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Distribution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663440" y="224028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1155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14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41732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21945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4-class classification task based on ICAR standards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44168" y="2788920"/>
            <a:ext cx="128016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2184" y="804672"/>
            <a:ext cx="11155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72184" y="914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72184" y="141732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36192" y="21945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 synthetic samples via NumPy class-conditional Gaussian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87752" y="2788920"/>
            <a:ext cx="128016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804672"/>
            <a:ext cx="11155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15768" y="914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15768" y="141732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79776" y="21945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check, IQR outliers, LabelEncoder, StandardScaler, 80/20 split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31336" y="2788920"/>
            <a:ext cx="128016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9352" y="804672"/>
            <a:ext cx="11155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59352" y="914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59352" y="141732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21945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correlation, class distribution, histograms, box plots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2788920"/>
            <a:ext cx="128016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02936" y="804672"/>
            <a:ext cx="1115568" cy="4023360"/>
          </a:xfrm>
          <a:prstGeom prst="rect">
            <a:avLst/>
          </a:prstGeom>
          <a:solidFill>
            <a:srgbClr val="2D6A4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02936" y="914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02936" y="141732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66944" y="21945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Decision Tree, KNN, Gaussian Naive Bayes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18504" y="2788920"/>
            <a:ext cx="128016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804672"/>
            <a:ext cx="11155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914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46520" y="141732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10528" y="21945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confusion matrix, 5-fold stratified cross-validation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62088" y="2788920"/>
            <a:ext cx="128016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0104" y="804672"/>
            <a:ext cx="11155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90104" y="91440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90104" y="141732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54112" y="21945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input → fertility class + fertilization recommendation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Compared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7315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914400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 via bootstrap aggregation. Robust to noise, handles feature interactions, provides feature importance scores.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0" y="1124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min_samples_split=5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interpretable tree producing human-readable rules. Baseline against the ensemble method.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Neighbours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metric=Euclidean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017520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learner using majority vote of 5 nearest training samples. Effective for locally complex boundaries.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Naive Bayes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434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parameters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069080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assuming Gaussian distributions and class-conditional independence. Lightweight baseline.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Model Comparison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822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Summary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188720"/>
          <a:ext cx="2926080" cy="1645920"/>
        </p:xfrm>
        <a:graphic>
          <a:graphicData uri="http://schemas.openxmlformats.org/drawingml/2006/table">
            <a:tbl>
              <a:tblPr/>
              <a:tblGrid>
                <a:gridCol w="975360"/>
                <a:gridCol w="975360"/>
                <a:gridCol w="975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73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47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9788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— Per Class (F1)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89788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Fertility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269480" y="3438144"/>
            <a:ext cx="146304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69480" y="3438144"/>
            <a:ext cx="1397203" cy="201168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759952" y="3383280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897880" y="37856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Fertility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269480" y="3840480"/>
            <a:ext cx="146304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69480" y="3840480"/>
            <a:ext cx="1367942" cy="2011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59952" y="3785616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97880" y="41879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Fertility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269480" y="4242816"/>
            <a:ext cx="146304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69480" y="4242816"/>
            <a:ext cx="1367942" cy="2011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759952" y="4187952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897880" y="45902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Fertility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269480" y="4645152"/>
            <a:ext cx="146304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269480" y="4645152"/>
            <a:ext cx="1338682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759952" y="4590288"/>
            <a:ext cx="475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22960"/>
            <a:ext cx="3200400" cy="39319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60720" y="146304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417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— 23.1%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1691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 of nutrient availability in soil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10312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057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— 19.8%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macronutrient for plant growth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74320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+ K — 31.1%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3504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account for root &amp; water regulation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338328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— 4.8%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35040" y="3611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important; salinity rarely limits fertility alone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402336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3977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+ N = 43%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35040" y="4251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drive nearly half of RF decision-making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Prediction Module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4630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Soil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298448"/>
            <a:ext cx="256032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841248"/>
            <a:ext cx="14630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84832" y="9144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47872" y="1298448"/>
            <a:ext cx="256032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841248"/>
            <a:ext cx="1463040" cy="10058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3904" y="9144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66944" y="1298448"/>
            <a:ext cx="256032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22976" y="841248"/>
            <a:ext cx="146304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22976" y="9144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86016" y="1298448"/>
            <a:ext cx="256032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2048" y="841248"/>
            <a:ext cx="1463040" cy="10058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42048" y="9144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Fertilizer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011680"/>
            <a:ext cx="3840480" cy="28346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103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Input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542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542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 mg/kg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29809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9809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mg/kg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419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34198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185 mg/kg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8587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858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2542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2542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29809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29809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28°C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4198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017520" y="34198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 dS/m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2011680"/>
            <a:ext cx="4297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80560" y="2011680"/>
            <a:ext cx="429768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0848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Output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26517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FERTILITY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572000" y="3273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96.2%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3639312"/>
            <a:ext cx="3931920" cy="5486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409651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current NPK balance. Monitor pH (6.5–7.5 optimal). Minimal fertilization needed.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4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Future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94.1% accuracy — best among 4 classifiers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(23.1%) and Nitrogen (19.8%) are the dominant predictors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1518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≈ CV mean (94.1% vs 93.5%) → no overfitting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23697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substantially outperform single-tree approaches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85876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module delivers real-time fertility 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74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868680"/>
            <a:ext cx="35661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9784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Integrate real ICAR field datasets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0" y="1527048"/>
            <a:ext cx="35661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6367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Deep learning models (MLP, TabNet)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0" y="2185416"/>
            <a:ext cx="35661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2951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Continuous nutrient regression output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0" y="2843784"/>
            <a:ext cx="35661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953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IoT sensor integration (Raspberry Pi)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0" y="3502152"/>
            <a:ext cx="35661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Geographic &amp; seasonal adaptation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03520" y="4160520"/>
            <a:ext cx="356616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4270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Web/mobile app for farmers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Ramya Sri U (RA2311026050042)  &amp;  Harsitha G P (RA2311026050197)  |  SRM Institute of Science and Technology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SoilHealth Predictor</dc:title>
  <dc:subject>PptxGenJS Presentation</dc:subject>
  <dc:creator>Ramya Sri U &amp; Harsitha G P</dc:creator>
  <cp:lastModifiedBy>Ramya Sri U &amp; Harsitha G P</cp:lastModifiedBy>
  <cp:revision>1</cp:revision>
  <dcterms:created xsi:type="dcterms:W3CDTF">2026-04-05T17:57:13Z</dcterms:created>
  <dcterms:modified xsi:type="dcterms:W3CDTF">2026-04-05T17:57:13Z</dcterms:modified>
</cp:coreProperties>
</file>